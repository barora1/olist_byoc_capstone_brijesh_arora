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60" r:id="rId3"/>
    <p:sldId id="279" r:id="rId4"/>
    <p:sldId id="286" r:id="rId5"/>
    <p:sldId id="280" r:id="rId6"/>
    <p:sldId id="281" r:id="rId7"/>
    <p:sldId id="287" r:id="rId8"/>
    <p:sldId id="282" r:id="rId9"/>
    <p:sldId id="283" r:id="rId10"/>
    <p:sldId id="284" r:id="rId11"/>
    <p:sldId id="285" r:id="rId12"/>
    <p:sldId id="288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Calibri"/>
              </a:rPr>
              <a:t>Repeat-Purchase Rate by Delivery Status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Rate</c:v>
                </c:pt>
              </c:strCache>
            </c:strRef>
          </c:tx>
          <c:spPr>
            <a:solidFill>
              <a:srgbClr val="B0B0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593-4B3F-AE1F-9229EDF0806E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593-4B3F-AE1F-9229EDF0806E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On-time / early</c:v>
                </c:pt>
                <c:pt idx="1">
                  <c:v>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3.13</c:v>
                </c:pt>
                <c:pt idx="1">
                  <c:v>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93-4B3F-AE1F-9229EDF080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9/27/2026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9/27/2026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9/27/2026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9/27/2026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4">
            <a:extLst>
              <a:ext uri="{FF2B5EF4-FFF2-40B4-BE49-F238E27FC236}">
                <a16:creationId xmlns:a16="http://schemas.microsoft.com/office/drawing/2014/main" id="{4FD3C026-A666-7E3C-CD68-8A2FBB46CB1E}"/>
              </a:ext>
            </a:extLst>
          </p:cNvPr>
          <p:cNvSpPr/>
          <p:nvPr/>
        </p:nvSpPr>
        <p:spPr>
          <a:xfrm>
            <a:off x="9966960" y="548640"/>
            <a:ext cx="2011680" cy="20116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9CB9E4CC-864D-F697-321F-C5E3142CA3B4}"/>
              </a:ext>
            </a:extLst>
          </p:cNvPr>
          <p:cNvSpPr txBox="1"/>
          <p:nvPr/>
        </p:nvSpPr>
        <p:spPr>
          <a:xfrm>
            <a:off x="3232728" y="1737360"/>
            <a:ext cx="7994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16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93D39D66-34F5-77EE-3D9C-7AF5ACD4B3DC}"/>
              </a:ext>
            </a:extLst>
          </p:cNvPr>
          <p:cNvSpPr txBox="1"/>
          <p:nvPr/>
        </p:nvSpPr>
        <p:spPr>
          <a:xfrm>
            <a:off x="3362398" y="2372129"/>
            <a:ext cx="7994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Diagnostic Analysis &amp; Business Recommendations</a:t>
            </a:r>
            <a:endParaRPr lang="en-US" sz="40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CE848C20-48D6-7EBE-04F5-CD23B3544642}"/>
              </a:ext>
            </a:extLst>
          </p:cNvPr>
          <p:cNvSpPr txBox="1"/>
          <p:nvPr/>
        </p:nvSpPr>
        <p:spPr>
          <a:xfrm>
            <a:off x="3362398" y="3738418"/>
            <a:ext cx="66045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 analysis of delivery performance, freight pricing, and customer retention across 93,254 Brazilian e-commerce customers</a:t>
            </a:r>
            <a:endParaRPr lang="en-US" sz="1500" dirty="0">
              <a:solidFill>
                <a:schemeClr val="accent3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5275F1B-8CE9-7EA9-CB7E-81DDFACCB640}"/>
              </a:ext>
            </a:extLst>
          </p:cNvPr>
          <p:cNvSpPr txBox="1"/>
          <p:nvPr/>
        </p:nvSpPr>
        <p:spPr>
          <a:xfrm>
            <a:off x="3362398" y="480706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Brijesh Arora  |  Data Analytics Capstone  |  Business Analyst</a:t>
            </a:r>
            <a:endParaRPr lang="en-US" sz="16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2D330D09-8193-355C-94D4-5F462730F543}"/>
              </a:ext>
            </a:extLst>
          </p:cNvPr>
          <p:cNvSpPr/>
          <p:nvPr/>
        </p:nvSpPr>
        <p:spPr>
          <a:xfrm>
            <a:off x="10607040" y="1188720"/>
            <a:ext cx="1188720" cy="1188720"/>
          </a:xfrm>
          <a:prstGeom prst="ellipse">
            <a:avLst/>
          </a:prstGeom>
          <a:solidFill>
            <a:srgbClr val="C0392B"/>
          </a:solidFill>
          <a:ln/>
        </p:spPr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Agenda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Executive Summary</a:t>
            </a:r>
          </a:p>
          <a:p>
            <a:r>
              <a:rPr lang="en-IN" dirty="0"/>
              <a:t>Business Problem &amp; Objective</a:t>
            </a:r>
          </a:p>
          <a:p>
            <a:r>
              <a:rPr lang="en-IN" dirty="0"/>
              <a:t>Methodology </a:t>
            </a:r>
          </a:p>
          <a:p>
            <a:r>
              <a:rPr lang="en-IN" dirty="0"/>
              <a:t>Finding 1 — Delivery Speed &amp; Retention</a:t>
            </a:r>
          </a:p>
          <a:p>
            <a:r>
              <a:rPr lang="en-IN" dirty="0"/>
              <a:t>Finding 2 — Freight Artifact Correction</a:t>
            </a:r>
          </a:p>
          <a:p>
            <a:r>
              <a:rPr lang="en-IN" dirty="0"/>
              <a:t>Predictive Baseline</a:t>
            </a:r>
          </a:p>
          <a:p>
            <a:r>
              <a:rPr lang="en-IN" dirty="0"/>
              <a:t>Business Priority Segmentation</a:t>
            </a:r>
          </a:p>
          <a:p>
            <a:r>
              <a:rPr lang="en-IN" dirty="0"/>
              <a:t>Interactive Dashboard </a:t>
            </a:r>
          </a:p>
          <a:p>
            <a:r>
              <a:rPr lang="en-IN" dirty="0"/>
              <a:t>Strategic Recommendations</a:t>
            </a:r>
          </a:p>
          <a:p>
            <a:r>
              <a:rPr lang="en-IN" dirty="0"/>
              <a:t>Limitation</a:t>
            </a:r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8125-1FF5-F1DB-9FA3-E23CF7F2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C7C8-DD43-9747-113C-167C8008D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Executive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9C73C-6CC9-16F5-3E24-8C12B5FCB602}"/>
              </a:ext>
            </a:extLst>
          </p:cNvPr>
          <p:cNvSpPr txBox="1"/>
          <p:nvPr/>
        </p:nvSpPr>
        <p:spPr>
          <a:xfrm>
            <a:off x="1280160" y="6068491"/>
            <a:ext cx="962863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 is a genuine, actionable driver of retention. Freight cost is not — the earlier signal was a mechanical artifact of price/freight correlation, now corrected</a:t>
            </a:r>
            <a:endParaRPr lang="en-IN" sz="1600" i="1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C4F4028-82C4-A600-895D-32DA3D02BDE9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statistically rigorous findings, distilled from a full diagnostic and predictive pipeline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4898C8C9-14A6-25AF-A0C5-2BAFDCD8CC16}"/>
              </a:ext>
            </a:extLst>
          </p:cNvPr>
          <p:cNvSpPr/>
          <p:nvPr/>
        </p:nvSpPr>
        <p:spPr>
          <a:xfrm>
            <a:off x="640080" y="2640673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9504CB1-0FFE-4442-4EC0-F5E1D83F7FE8}"/>
              </a:ext>
            </a:extLst>
          </p:cNvPr>
          <p:cNvSpPr txBox="1"/>
          <p:nvPr/>
        </p:nvSpPr>
        <p:spPr>
          <a:xfrm>
            <a:off x="777240" y="2960713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93,254</a:t>
            </a:r>
            <a:endParaRPr lang="en-US" sz="30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43FCE087-8513-5A97-8CBB-BF78584682D2}"/>
              </a:ext>
            </a:extLst>
          </p:cNvPr>
          <p:cNvSpPr txBox="1"/>
          <p:nvPr/>
        </p:nvSpPr>
        <p:spPr>
          <a:xfrm>
            <a:off x="777240" y="3875113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3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43FE56CE-116C-856E-ACD9-D9FAD740EF41}"/>
              </a:ext>
            </a:extLst>
          </p:cNvPr>
          <p:cNvSpPr/>
          <p:nvPr/>
        </p:nvSpPr>
        <p:spPr>
          <a:xfrm>
            <a:off x="3520440" y="2640673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EFF8F71A-3097-E6EF-D207-5839D126F8D8}"/>
              </a:ext>
            </a:extLst>
          </p:cNvPr>
          <p:cNvSpPr txBox="1"/>
          <p:nvPr/>
        </p:nvSpPr>
        <p:spPr>
          <a:xfrm>
            <a:off x="3657600" y="2960713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0.0059</a:t>
            </a:r>
            <a:endParaRPr lang="en-US" sz="30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91597C22-1323-DA11-43F9-D3CF9F816EE6}"/>
              </a:ext>
            </a:extLst>
          </p:cNvPr>
          <p:cNvSpPr txBox="1"/>
          <p:nvPr/>
        </p:nvSpPr>
        <p:spPr>
          <a:xfrm>
            <a:off x="3657600" y="3875113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significantly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repeat purchase</a:t>
            </a:r>
            <a:endParaRPr lang="en-US" sz="13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05583413-F92C-72BE-C211-A31701728E21}"/>
              </a:ext>
            </a:extLst>
          </p:cNvPr>
          <p:cNvSpPr/>
          <p:nvPr/>
        </p:nvSpPr>
        <p:spPr>
          <a:xfrm>
            <a:off x="6400800" y="2640673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0B7520C-C26D-2B47-FB79-9BDADFC912CD}"/>
              </a:ext>
            </a:extLst>
          </p:cNvPr>
          <p:cNvSpPr txBox="1"/>
          <p:nvPr/>
        </p:nvSpPr>
        <p:spPr>
          <a:xfrm>
            <a:off x="6537960" y="2960713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0.0004 → 0.968</a:t>
            </a:r>
            <a:endParaRPr lang="en-US" sz="20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9ABE1E8E-0963-60DD-3756-F95BBDA78B79}"/>
              </a:ext>
            </a:extLst>
          </p:cNvPr>
          <p:cNvSpPr txBox="1"/>
          <p:nvPr/>
        </p:nvSpPr>
        <p:spPr>
          <a:xfrm>
            <a:off x="6537960" y="3875113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"risk" finding was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artifact</a:t>
            </a:r>
            <a:endParaRPr lang="en-US" sz="1300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A468D367-6417-61C4-5136-09A6CDF37BF1}"/>
              </a:ext>
            </a:extLst>
          </p:cNvPr>
          <p:cNvSpPr/>
          <p:nvPr/>
        </p:nvSpPr>
        <p:spPr>
          <a:xfrm>
            <a:off x="9281160" y="2640673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99D7DEA9-DBAF-86BA-B8F5-3677B6AA0FBA}"/>
              </a:ext>
            </a:extLst>
          </p:cNvPr>
          <p:cNvSpPr txBox="1"/>
          <p:nvPr/>
        </p:nvSpPr>
        <p:spPr>
          <a:xfrm>
            <a:off x="9418320" y="2960713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R$383K</a:t>
            </a:r>
            <a:endParaRPr lang="en-US" sz="30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61AD06EA-3A9A-860A-F5E8-339B38A72F38}"/>
              </a:ext>
            </a:extLst>
          </p:cNvPr>
          <p:cNvSpPr txBox="1"/>
          <p:nvPr/>
        </p:nvSpPr>
        <p:spPr>
          <a:xfrm>
            <a:off x="9418320" y="3875113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repeat revenue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customer tiers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7917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D33E-4915-F461-297D-28EDC740F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72E7-D1AF-4F6A-17AA-9C0F0B83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 &amp; Objective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8491601-5457-B416-CD5D-A552319BE863}"/>
              </a:ext>
            </a:extLst>
          </p:cNvPr>
          <p:cNvSpPr txBox="1"/>
          <p:nvPr/>
        </p:nvSpPr>
        <p:spPr>
          <a:xfrm>
            <a:off x="640080" y="2008914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is rare on Olist's marketplace, and the business doesn't know which levers actually move it.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22FC13A-1843-980D-48EB-46299BC8A03D}"/>
              </a:ext>
            </a:extLst>
          </p:cNvPr>
          <p:cNvSpPr/>
          <p:nvPr/>
        </p:nvSpPr>
        <p:spPr>
          <a:xfrm>
            <a:off x="640080" y="328907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9C0FBE6-952B-AEDC-689E-962D716BDD88}"/>
              </a:ext>
            </a:extLst>
          </p:cNvPr>
          <p:cNvSpPr txBox="1"/>
          <p:nvPr/>
        </p:nvSpPr>
        <p:spPr>
          <a:xfrm>
            <a:off x="640080" y="32890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924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3F14A5E9-5639-51EB-D217-082BC7E6AE27}"/>
              </a:ext>
            </a:extLst>
          </p:cNvPr>
          <p:cNvSpPr txBox="1"/>
          <p:nvPr/>
        </p:nvSpPr>
        <p:spPr>
          <a:xfrm>
            <a:off x="1188720" y="328907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late delivery genuinely reduce the odds a customer returns?</a:t>
            </a:r>
            <a:endParaRPr lang="en-US" sz="13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C9BAF17F-E522-DF52-9177-03242D4B92C5}"/>
              </a:ext>
            </a:extLst>
          </p:cNvPr>
          <p:cNvSpPr/>
          <p:nvPr/>
        </p:nvSpPr>
        <p:spPr>
          <a:xfrm>
            <a:off x="640080" y="391086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B36EE6F-0DB1-C58A-EF0B-40A8FEDE7743}"/>
              </a:ext>
            </a:extLst>
          </p:cNvPr>
          <p:cNvSpPr txBox="1"/>
          <p:nvPr/>
        </p:nvSpPr>
        <p:spPr>
          <a:xfrm>
            <a:off x="640080" y="39108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924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F2FD85D-6021-F479-B4C3-0D238A58054E}"/>
              </a:ext>
            </a:extLst>
          </p:cNvPr>
          <p:cNvSpPr txBox="1"/>
          <p:nvPr/>
        </p:nvSpPr>
        <p:spPr>
          <a:xfrm>
            <a:off x="1188720" y="391086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freight cost burden customers enough to suppress retention?</a:t>
            </a:r>
            <a:endParaRPr lang="en-US" sz="135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E24E33E-DDAF-A267-BF78-215B886F017A}"/>
              </a:ext>
            </a:extLst>
          </p:cNvPr>
          <p:cNvSpPr/>
          <p:nvPr/>
        </p:nvSpPr>
        <p:spPr>
          <a:xfrm>
            <a:off x="640080" y="453265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DAA38B4-4423-6B94-0877-0376F2AFAD9B}"/>
              </a:ext>
            </a:extLst>
          </p:cNvPr>
          <p:cNvSpPr txBox="1"/>
          <p:nvPr/>
        </p:nvSpPr>
        <p:spPr>
          <a:xfrm>
            <a:off x="640080" y="45326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924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898F4F2-3E05-C0F6-2CCB-478B04586EBF}"/>
              </a:ext>
            </a:extLst>
          </p:cNvPr>
          <p:cNvSpPr txBox="1"/>
          <p:nvPr/>
        </p:nvSpPr>
        <p:spPr>
          <a:xfrm>
            <a:off x="1188720" y="453265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predict, ahead of time, which customers will repeat?</a:t>
            </a:r>
            <a:endParaRPr lang="en-US" sz="135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F85721A8-1DD2-F1AE-B49D-82C75BD4DF32}"/>
              </a:ext>
            </a:extLst>
          </p:cNvPr>
          <p:cNvSpPr/>
          <p:nvPr/>
        </p:nvSpPr>
        <p:spPr>
          <a:xfrm>
            <a:off x="640080" y="515445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A61BD95-4851-83E1-BB58-00C4C9BFD426}"/>
              </a:ext>
            </a:extLst>
          </p:cNvPr>
          <p:cNvSpPr txBox="1"/>
          <p:nvPr/>
        </p:nvSpPr>
        <p:spPr>
          <a:xfrm>
            <a:off x="640080" y="5154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924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81C8B66-BEA2-FA9C-9280-B52E581FA6BD}"/>
              </a:ext>
            </a:extLst>
          </p:cNvPr>
          <p:cNvSpPr txBox="1"/>
          <p:nvPr/>
        </p:nvSpPr>
        <p:spPr>
          <a:xfrm>
            <a:off x="1188720" y="515445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retention investment be prioritized first?</a:t>
            </a:r>
            <a:endParaRPr lang="en-US" sz="135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CB54AD0-74E6-41F1-837E-4699953A52C9}"/>
              </a:ext>
            </a:extLst>
          </p:cNvPr>
          <p:cNvSpPr/>
          <p:nvPr/>
        </p:nvSpPr>
        <p:spPr>
          <a:xfrm>
            <a:off x="6675120" y="2008914"/>
            <a:ext cx="4846320" cy="4206240"/>
          </a:xfrm>
          <a:prstGeom prst="roundRect">
            <a:avLst>
              <a:gd name="adj" fmla="val 1739"/>
            </a:avLst>
          </a:prstGeom>
          <a:solidFill>
            <a:schemeClr val="bg1"/>
          </a:solidFill>
          <a:ln/>
        </p:spPr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52193D1C-71E7-98E1-E0B7-33DC6FF82B24}"/>
              </a:ext>
            </a:extLst>
          </p:cNvPr>
          <p:cNvSpPr txBox="1"/>
          <p:nvPr/>
        </p:nvSpPr>
        <p:spPr>
          <a:xfrm>
            <a:off x="7040880" y="228323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>
              <a:solidFill>
                <a:srgbClr val="1E2761"/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E8834475-A889-4BDB-940B-9F3BE2ACEBF7}"/>
              </a:ext>
            </a:extLst>
          </p:cNvPr>
          <p:cNvSpPr txBox="1"/>
          <p:nvPr/>
        </p:nvSpPr>
        <p:spPr>
          <a:xfrm>
            <a:off x="7040880" y="260327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</a:t>
            </a: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Brazilian E-Commerce Public Dataset</a:t>
            </a:r>
            <a:endParaRPr lang="en-US" sz="1800" dirty="0">
              <a:solidFill>
                <a:srgbClr val="1E2761"/>
              </a:solidFill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D915B2A5-79DC-EF04-9DB1-64B0A2ABC4DE}"/>
              </a:ext>
            </a:extLst>
          </p:cNvPr>
          <p:cNvSpPr txBox="1"/>
          <p:nvPr/>
        </p:nvSpPr>
        <p:spPr>
          <a:xfrm>
            <a:off x="7040880" y="338051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93,254 unique customers, 2016–2018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8F1FC262-E333-244A-23D2-86F20F785FBA}"/>
              </a:ext>
            </a:extLst>
          </p:cNvPr>
          <p:cNvSpPr txBox="1"/>
          <p:nvPr/>
        </p:nvSpPr>
        <p:spPr>
          <a:xfrm>
            <a:off x="7040880" y="388343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Order, item, payment, review &amp; geolocation tables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77A1FF6D-AC55-066A-6C6C-746A89BCB2C8}"/>
              </a:ext>
            </a:extLst>
          </p:cNvPr>
          <p:cNvSpPr txBox="1"/>
          <p:nvPr/>
        </p:nvSpPr>
        <p:spPr>
          <a:xfrm>
            <a:off x="7040880" y="438635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License: CC BY-NC-SA 4.0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3D4E0F2C-EBFE-BCE2-737A-B59347D3036B}"/>
              </a:ext>
            </a:extLst>
          </p:cNvPr>
          <p:cNvSpPr txBox="1"/>
          <p:nvPr/>
        </p:nvSpPr>
        <p:spPr>
          <a:xfrm>
            <a:off x="7040880" y="488927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First-order cohort used to avoid lookback bias</a:t>
            </a:r>
            <a:endParaRPr lang="en-US" sz="1300" dirty="0">
              <a:solidFill>
                <a:srgbClr val="1E2761"/>
              </a:solidFill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A9E7CB18-B35B-57DF-02F3-F29CC40CACBD}"/>
              </a:ext>
            </a:extLst>
          </p:cNvPr>
          <p:cNvSpPr txBox="1"/>
          <p:nvPr/>
        </p:nvSpPr>
        <p:spPr>
          <a:xfrm>
            <a:off x="7040880" y="557507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quantify true drivers of repeat purchase, correct for statistical artifacts, and prioritize retention investment by customer value tier.</a:t>
            </a:r>
            <a:endParaRPr lang="en-US" sz="1200" dirty="0">
              <a:solidFill>
                <a:srgbClr val="1E27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47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A6685-A410-81A4-E1E0-84FFA470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CE6A-CC3F-8125-A3AC-7D565D01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477FC-B537-B4CA-091E-347B30AC6372}"/>
              </a:ext>
            </a:extLst>
          </p:cNvPr>
          <p:cNvSpPr txBox="1"/>
          <p:nvPr/>
        </p:nvSpPr>
        <p:spPr>
          <a:xfrm>
            <a:off x="1280160" y="6068491"/>
            <a:ext cx="9628631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</a:t>
            </a:r>
            <a:r>
              <a:rPr lang="en-US" sz="16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Stats: SciPy / </a:t>
            </a:r>
            <a:r>
              <a:rPr lang="en-US" sz="16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Model: scikit-learn (class-balanced logistic baseline)  ·  Reproducibility: config-driven paths, </a:t>
            </a:r>
            <a:r>
              <a:rPr lang="en-US" sz="16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suite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88FB8DF-1A06-5A5D-12EC-72C789538BA4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pipeline, from raw CSVs to prioritized business action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BB6BB8E-A22B-A3C9-912D-AC07802AC08E}"/>
              </a:ext>
            </a:extLst>
          </p:cNvPr>
          <p:cNvSpPr/>
          <p:nvPr/>
        </p:nvSpPr>
        <p:spPr>
          <a:xfrm>
            <a:off x="640080" y="2250896"/>
            <a:ext cx="2084832" cy="31089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</p:spPr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C90C6E1-28FB-DA90-FCE9-2B10E32FA731}"/>
              </a:ext>
            </a:extLst>
          </p:cNvPr>
          <p:cNvSpPr/>
          <p:nvPr/>
        </p:nvSpPr>
        <p:spPr>
          <a:xfrm>
            <a:off x="1362456" y="2525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C639F0C-A8EE-0EB7-AF03-1155594FAA3F}"/>
              </a:ext>
            </a:extLst>
          </p:cNvPr>
          <p:cNvSpPr txBox="1"/>
          <p:nvPr/>
        </p:nvSpPr>
        <p:spPr>
          <a:xfrm>
            <a:off x="1362456" y="2525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C24FE6A-67B5-3815-3FE5-5646C8A104F1}"/>
              </a:ext>
            </a:extLst>
          </p:cNvPr>
          <p:cNvSpPr txBox="1"/>
          <p:nvPr/>
        </p:nvSpPr>
        <p:spPr>
          <a:xfrm>
            <a:off x="731520" y="339389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C21A945-BC99-3BDB-EB8E-8465E1B6ED6F}"/>
              </a:ext>
            </a:extLst>
          </p:cNvPr>
          <p:cNvSpPr txBox="1"/>
          <p:nvPr/>
        </p:nvSpPr>
        <p:spPr>
          <a:xfrm>
            <a:off x="777240" y="3805376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data-quality checks across all raw tables</a:t>
            </a:r>
            <a:endParaRPr lang="en-US" sz="11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F130028-CF66-4354-9A13-AFF78C621F0B}"/>
              </a:ext>
            </a:extLst>
          </p:cNvPr>
          <p:cNvSpPr txBox="1"/>
          <p:nvPr/>
        </p:nvSpPr>
        <p:spPr>
          <a:xfrm>
            <a:off x="2724912" y="325673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EF9B4051-5457-89CB-AFC8-C8465D8A9738}"/>
              </a:ext>
            </a:extLst>
          </p:cNvPr>
          <p:cNvSpPr/>
          <p:nvPr/>
        </p:nvSpPr>
        <p:spPr>
          <a:xfrm>
            <a:off x="2889504" y="2250896"/>
            <a:ext cx="2084832" cy="31089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</p:spPr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080B4C7D-927B-EB47-DA4A-562D30DE215A}"/>
              </a:ext>
            </a:extLst>
          </p:cNvPr>
          <p:cNvSpPr/>
          <p:nvPr/>
        </p:nvSpPr>
        <p:spPr>
          <a:xfrm>
            <a:off x="3611880" y="2525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60CC0E30-CC70-D1E8-A9F4-BDE295DB9AED}"/>
              </a:ext>
            </a:extLst>
          </p:cNvPr>
          <p:cNvSpPr txBox="1"/>
          <p:nvPr/>
        </p:nvSpPr>
        <p:spPr>
          <a:xfrm>
            <a:off x="3611880" y="2525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E9319F67-CA4C-F80F-0E5A-61BD2732DB22}"/>
              </a:ext>
            </a:extLst>
          </p:cNvPr>
          <p:cNvSpPr txBox="1"/>
          <p:nvPr/>
        </p:nvSpPr>
        <p:spPr>
          <a:xfrm>
            <a:off x="2980944" y="339389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Model</a:t>
            </a:r>
            <a:endParaRPr lang="en-US" sz="15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082B857B-1540-61AB-2DAD-8DF419689DAF}"/>
              </a:ext>
            </a:extLst>
          </p:cNvPr>
          <p:cNvSpPr txBox="1"/>
          <p:nvPr/>
        </p:nvSpPr>
        <p:spPr>
          <a:xfrm>
            <a:off x="3026664" y="3805376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transformation into an analytical schema</a:t>
            </a:r>
            <a:endParaRPr lang="en-US" sz="115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0368111E-2D32-141E-82A3-F9FC4BC672F9}"/>
              </a:ext>
            </a:extLst>
          </p:cNvPr>
          <p:cNvSpPr txBox="1"/>
          <p:nvPr/>
        </p:nvSpPr>
        <p:spPr>
          <a:xfrm>
            <a:off x="4974336" y="325673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14">
            <a:extLst>
              <a:ext uri="{FF2B5EF4-FFF2-40B4-BE49-F238E27FC236}">
                <a16:creationId xmlns:a16="http://schemas.microsoft.com/office/drawing/2014/main" id="{DF4E0E45-40B0-67CB-0BFF-CDF6546C89FF}"/>
              </a:ext>
            </a:extLst>
          </p:cNvPr>
          <p:cNvSpPr/>
          <p:nvPr/>
        </p:nvSpPr>
        <p:spPr>
          <a:xfrm>
            <a:off x="5138928" y="2250896"/>
            <a:ext cx="2084832" cy="31089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</p:spPr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F819A50E-19DA-ECE7-6844-8FF922419DDD}"/>
              </a:ext>
            </a:extLst>
          </p:cNvPr>
          <p:cNvSpPr/>
          <p:nvPr/>
        </p:nvSpPr>
        <p:spPr>
          <a:xfrm>
            <a:off x="5861304" y="2525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F3D649A8-0660-5C83-07BF-F4651F6C3A30}"/>
              </a:ext>
            </a:extLst>
          </p:cNvPr>
          <p:cNvSpPr txBox="1"/>
          <p:nvPr/>
        </p:nvSpPr>
        <p:spPr>
          <a:xfrm>
            <a:off x="5861304" y="2525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61453976-602C-3DF7-7743-6C91845461A7}"/>
              </a:ext>
            </a:extLst>
          </p:cNvPr>
          <p:cNvSpPr txBox="1"/>
          <p:nvPr/>
        </p:nvSpPr>
        <p:spPr>
          <a:xfrm>
            <a:off x="5230368" y="339389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068FAAE2-3FE4-DC9A-018E-2B5282F626D3}"/>
              </a:ext>
            </a:extLst>
          </p:cNvPr>
          <p:cNvSpPr txBox="1"/>
          <p:nvPr/>
        </p:nvSpPr>
        <p:spPr>
          <a:xfrm>
            <a:off x="5276088" y="3805376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/ logistic tests for delivery &amp; freight effects</a:t>
            </a:r>
            <a:endParaRPr lang="en-US" sz="1150" dirty="0"/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F0141721-0777-C509-A176-2D9D89BFF3D5}"/>
              </a:ext>
            </a:extLst>
          </p:cNvPr>
          <p:cNvSpPr txBox="1"/>
          <p:nvPr/>
        </p:nvSpPr>
        <p:spPr>
          <a:xfrm>
            <a:off x="7223760" y="325673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E9A2D78C-400B-BCD9-0866-8E79D33D4416}"/>
              </a:ext>
            </a:extLst>
          </p:cNvPr>
          <p:cNvSpPr/>
          <p:nvPr/>
        </p:nvSpPr>
        <p:spPr>
          <a:xfrm>
            <a:off x="7388352" y="2250896"/>
            <a:ext cx="2084832" cy="31089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</p:spPr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480FF901-47F2-BC74-58CB-80B4AD2868AF}"/>
              </a:ext>
            </a:extLst>
          </p:cNvPr>
          <p:cNvSpPr/>
          <p:nvPr/>
        </p:nvSpPr>
        <p:spPr>
          <a:xfrm>
            <a:off x="8110728" y="2525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94D37CCE-D6BD-14CE-8A7E-200AF0F61ECB}"/>
              </a:ext>
            </a:extLst>
          </p:cNvPr>
          <p:cNvSpPr txBox="1"/>
          <p:nvPr/>
        </p:nvSpPr>
        <p:spPr>
          <a:xfrm>
            <a:off x="8110728" y="2525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4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FED4C742-F4E0-933F-09D0-1C6E4FFF1B47}"/>
              </a:ext>
            </a:extLst>
          </p:cNvPr>
          <p:cNvSpPr txBox="1"/>
          <p:nvPr/>
        </p:nvSpPr>
        <p:spPr>
          <a:xfrm>
            <a:off x="7479792" y="339389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3DFB101E-7856-D48B-5528-C6FBA9EE648A}"/>
              </a:ext>
            </a:extLst>
          </p:cNvPr>
          <p:cNvSpPr txBox="1"/>
          <p:nvPr/>
        </p:nvSpPr>
        <p:spPr>
          <a:xfrm>
            <a:off x="7525512" y="3805376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classifier for repeat-purchase probability</a:t>
            </a:r>
            <a:endParaRPr lang="en-US" sz="115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2937C7AD-BA2D-82A7-E42D-DFF0EC9A5D0C}"/>
              </a:ext>
            </a:extLst>
          </p:cNvPr>
          <p:cNvSpPr txBox="1"/>
          <p:nvPr/>
        </p:nvSpPr>
        <p:spPr>
          <a:xfrm>
            <a:off x="9473184" y="3256736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6" name="Shape 26">
            <a:extLst>
              <a:ext uri="{FF2B5EF4-FFF2-40B4-BE49-F238E27FC236}">
                <a16:creationId xmlns:a16="http://schemas.microsoft.com/office/drawing/2014/main" id="{6B681298-EA94-66BD-1805-FE20AF0A86AA}"/>
              </a:ext>
            </a:extLst>
          </p:cNvPr>
          <p:cNvSpPr/>
          <p:nvPr/>
        </p:nvSpPr>
        <p:spPr>
          <a:xfrm>
            <a:off x="9637776" y="2250896"/>
            <a:ext cx="2084832" cy="310896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/>
        </p:spPr>
      </p:sp>
      <p:sp>
        <p:nvSpPr>
          <p:cNvPr id="68" name="Shape 27">
            <a:extLst>
              <a:ext uri="{FF2B5EF4-FFF2-40B4-BE49-F238E27FC236}">
                <a16:creationId xmlns:a16="http://schemas.microsoft.com/office/drawing/2014/main" id="{D4F2E49C-7D42-7CBE-FAC6-404B58D74F7A}"/>
              </a:ext>
            </a:extLst>
          </p:cNvPr>
          <p:cNvSpPr/>
          <p:nvPr/>
        </p:nvSpPr>
        <p:spPr>
          <a:xfrm>
            <a:off x="10360152" y="2525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0" name="Text 28">
            <a:extLst>
              <a:ext uri="{FF2B5EF4-FFF2-40B4-BE49-F238E27FC236}">
                <a16:creationId xmlns:a16="http://schemas.microsoft.com/office/drawing/2014/main" id="{C43F8598-5E43-1170-BBE8-6AEF566BDF1B}"/>
              </a:ext>
            </a:extLst>
          </p:cNvPr>
          <p:cNvSpPr txBox="1"/>
          <p:nvPr/>
        </p:nvSpPr>
        <p:spPr>
          <a:xfrm>
            <a:off x="10360152" y="2525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40" dirty="0"/>
          </a:p>
        </p:txBody>
      </p:sp>
      <p:sp>
        <p:nvSpPr>
          <p:cNvPr id="72" name="Text 29">
            <a:extLst>
              <a:ext uri="{FF2B5EF4-FFF2-40B4-BE49-F238E27FC236}">
                <a16:creationId xmlns:a16="http://schemas.microsoft.com/office/drawing/2014/main" id="{E4065930-122B-83F8-E7D1-1D610780F676}"/>
              </a:ext>
            </a:extLst>
          </p:cNvPr>
          <p:cNvSpPr txBox="1"/>
          <p:nvPr/>
        </p:nvSpPr>
        <p:spPr>
          <a:xfrm>
            <a:off x="9729216" y="339389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500" dirty="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1DB218AA-CF3F-84A2-302D-1B58CCAAD20F}"/>
              </a:ext>
            </a:extLst>
          </p:cNvPr>
          <p:cNvSpPr txBox="1"/>
          <p:nvPr/>
        </p:nvSpPr>
        <p:spPr>
          <a:xfrm>
            <a:off x="9774936" y="3805376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Segment-level business priority &amp; revenue estimate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6448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5B36-340D-E068-1A89-14B1EFB1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C59A-FB6A-A4BD-5937-78BACC03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1: Delivery Speed Drives Retention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6EBFD03-CCF6-C762-1553-424544DBE944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whose first order arrives late are significantly less likely to make a repeat purchase.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28497231-6CE2-978F-C359-753FAF1F579F}"/>
              </a:ext>
            </a:extLst>
          </p:cNvPr>
          <p:cNvGraphicFramePr/>
          <p:nvPr/>
        </p:nvGraphicFramePr>
        <p:xfrm>
          <a:off x="640080" y="2377440"/>
          <a:ext cx="60350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B0D39725-2CE7-C4A0-B405-AF0E01A92135}"/>
              </a:ext>
            </a:extLst>
          </p:cNvPr>
          <p:cNvSpPr/>
          <p:nvPr/>
        </p:nvSpPr>
        <p:spPr>
          <a:xfrm>
            <a:off x="7040880" y="2377440"/>
            <a:ext cx="448056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0F97553-86AF-761D-FCB5-FDF349012346}"/>
              </a:ext>
            </a:extLst>
          </p:cNvPr>
          <p:cNvSpPr txBox="1"/>
          <p:nvPr/>
        </p:nvSpPr>
        <p:spPr>
          <a:xfrm>
            <a:off x="7360920" y="2651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0.0059</a:t>
            </a:r>
            <a:endParaRPr lang="en-US" sz="26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FFACB77-E08E-CB49-DC2E-7B548C6B9278}"/>
              </a:ext>
            </a:extLst>
          </p:cNvPr>
          <p:cNvSpPr txBox="1"/>
          <p:nvPr/>
        </p:nvSpPr>
        <p:spPr>
          <a:xfrm>
            <a:off x="736092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— statistically significant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B240DDB-7808-3674-DF41-D78BD152ACB2}"/>
              </a:ext>
            </a:extLst>
          </p:cNvPr>
          <p:cNvSpPr txBox="1"/>
          <p:nvPr/>
        </p:nvSpPr>
        <p:spPr>
          <a:xfrm>
            <a:off x="736092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Odds Ratio = 0.811</a:t>
            </a:r>
            <a:endParaRPr lang="en-US" sz="2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30799C9-2738-4E73-4949-59540C338277}"/>
              </a:ext>
            </a:extLst>
          </p:cNvPr>
          <p:cNvSpPr txBox="1"/>
          <p:nvPr/>
        </p:nvSpPr>
        <p:spPr>
          <a:xfrm>
            <a:off x="7360920" y="420624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Late-delivery customers have ~19% lower odds of a repeat purchase than on-time customers.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24100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08F53-D398-C4BF-9D84-279DD02C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5D86-0E64-D63A-F47A-FBC197E2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2: </a:t>
            </a:r>
            <a:r>
              <a:rPr lang="en-US" dirty="0"/>
              <a:t>Freight “Risk” Was a Statistical Artifact</a:t>
            </a:r>
            <a:endParaRPr lang="en-IN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D855F9B3-E619-D5BB-1B47-EB1F07B49AF7}"/>
              </a:ext>
            </a:extLst>
          </p:cNvPr>
          <p:cNvSpPr txBox="1"/>
          <p:nvPr/>
        </p:nvSpPr>
        <p:spPr>
          <a:xfrm>
            <a:off x="1389888" y="135878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initial freight-to-price ratio band looked significant — but freight cost is mathematically tied to order value, which inflated that result. A corrected, order-value-based band shows no real effect.</a:t>
            </a:r>
          </a:p>
        </p:txBody>
      </p:sp>
      <p:pic>
        <p:nvPicPr>
          <p:cNvPr id="5" name="Image 0" descr="images/freight.png">
            <a:extLst>
              <a:ext uri="{FF2B5EF4-FFF2-40B4-BE49-F238E27FC236}">
                <a16:creationId xmlns:a16="http://schemas.microsoft.com/office/drawing/2014/main" id="{51B7AE13-9E6E-F338-F45C-A6B2FE1D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22960" y="1948408"/>
            <a:ext cx="10515600" cy="443484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86194E32-971F-B382-36EC-442B92E1E557}"/>
              </a:ext>
            </a:extLst>
          </p:cNvPr>
          <p:cNvSpPr txBox="1"/>
          <p:nvPr/>
        </p:nvSpPr>
        <p:spPr>
          <a:xfrm>
            <a:off x="853440" y="636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Freight page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19966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80F2-F526-5F53-3FA7-3B02CD5B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C247-1066-A1B7-C6CF-27E6BD94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Baseline: Honest Limits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C6025F-BA00-3CEB-4E89-70C3B969F21A}"/>
              </a:ext>
            </a:extLst>
          </p:cNvPr>
          <p:cNvSpPr txBox="1"/>
          <p:nvPr/>
        </p:nvSpPr>
        <p:spPr>
          <a:xfrm>
            <a:off x="1280161" y="5560660"/>
            <a:ext cx="962863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an ROC-AUC below 0.60 means the model discriminates only weakly better than chance. This isn’t a modeling failure — it’s an honest reflection of the small, real effect sizes (H1, H2) available in the data. Repeat purchase cannot be reliably predicted from delivery and pricing signals alone.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0ED9B59-99B3-289F-7BCF-9EB965AAD663}"/>
              </a:ext>
            </a:extLst>
          </p:cNvPr>
          <p:cNvSpPr txBox="1"/>
          <p:nvPr/>
        </p:nvSpPr>
        <p:spPr>
          <a:xfrm>
            <a:off x="1389888" y="136801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class-balanced logistic baseline was built to test whether repeat purchase is predictable ahead of time. It is not — consistent with the small effect sizes found above.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707E76D-D5F3-3D20-0AC2-834A8F20F9B6}"/>
              </a:ext>
            </a:extLst>
          </p:cNvPr>
          <p:cNvSpPr/>
          <p:nvPr/>
        </p:nvSpPr>
        <p:spPr>
          <a:xfrm>
            <a:off x="640080" y="2444399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C8C253-082B-BD9C-7DD9-BFCFA41696EF}"/>
              </a:ext>
            </a:extLst>
          </p:cNvPr>
          <p:cNvSpPr txBox="1"/>
          <p:nvPr/>
        </p:nvSpPr>
        <p:spPr>
          <a:xfrm>
            <a:off x="777240" y="2718719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0.5466</a:t>
            </a: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5D3C915B-F2BC-39E2-0F10-1D95F96FDA41}"/>
              </a:ext>
            </a:extLst>
          </p:cNvPr>
          <p:cNvSpPr txBox="1"/>
          <p:nvPr/>
        </p:nvSpPr>
        <p:spPr>
          <a:xfrm>
            <a:off x="777240" y="3404519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 discrimination)</a:t>
            </a:r>
            <a:endParaRPr lang="en-US" sz="125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C821274-8B2E-AD9A-1384-9CC37F921AD7}"/>
              </a:ext>
            </a:extLst>
          </p:cNvPr>
          <p:cNvSpPr/>
          <p:nvPr/>
        </p:nvSpPr>
        <p:spPr>
          <a:xfrm>
            <a:off x="3520440" y="2444399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EC19ED7-9E33-9B28-5F69-2AC481DA4207}"/>
              </a:ext>
            </a:extLst>
          </p:cNvPr>
          <p:cNvSpPr txBox="1"/>
          <p:nvPr/>
        </p:nvSpPr>
        <p:spPr>
          <a:xfrm>
            <a:off x="3657600" y="2718719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66.13%</a:t>
            </a:r>
            <a:endParaRPr lang="en-US" sz="2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8078CF7-A636-8488-A8B8-2FE11A1B7A20}"/>
              </a:ext>
            </a:extLst>
          </p:cNvPr>
          <p:cNvSpPr txBox="1"/>
          <p:nvPr/>
        </p:nvSpPr>
        <p:spPr>
          <a:xfrm>
            <a:off x="3657600" y="3404519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(balanced classifier)</a:t>
            </a:r>
            <a:endParaRPr lang="en-US" sz="125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A5BE814-F859-8217-4A01-1877C45A8B81}"/>
              </a:ext>
            </a:extLst>
          </p:cNvPr>
          <p:cNvSpPr/>
          <p:nvPr/>
        </p:nvSpPr>
        <p:spPr>
          <a:xfrm>
            <a:off x="6400800" y="2444399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C9A2CB5C-1020-A11E-C5FC-272F8D595833}"/>
              </a:ext>
            </a:extLst>
          </p:cNvPr>
          <p:cNvSpPr txBox="1"/>
          <p:nvPr/>
        </p:nvSpPr>
        <p:spPr>
          <a:xfrm>
            <a:off x="6537960" y="2718719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0B0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96.92%</a:t>
            </a:r>
            <a:endParaRPr lang="en-US" sz="2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4D657907-DDEA-9512-1FE1-B6561AE79213}"/>
              </a:ext>
            </a:extLst>
          </p:cNvPr>
          <p:cNvSpPr txBox="1"/>
          <p:nvPr/>
        </p:nvSpPr>
        <p:spPr>
          <a:xfrm>
            <a:off x="6537960" y="3404519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“never repeats”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125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1D3D1005-0CF1-8CC8-572D-3688EF52C5D6}"/>
              </a:ext>
            </a:extLst>
          </p:cNvPr>
          <p:cNvSpPr/>
          <p:nvPr/>
        </p:nvSpPr>
        <p:spPr>
          <a:xfrm>
            <a:off x="9281160" y="2444399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ED3F5EA2-D6C4-2997-781F-73B4556040BD}"/>
              </a:ext>
            </a:extLst>
          </p:cNvPr>
          <p:cNvSpPr txBox="1"/>
          <p:nvPr/>
        </p:nvSpPr>
        <p:spPr>
          <a:xfrm>
            <a:off x="9418320" y="2718719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 / 4%</a:t>
            </a:r>
            <a:endParaRPr lang="en-US" sz="24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1F7DE67-72EE-6382-EFF3-2D1099C09F95}"/>
              </a:ext>
            </a:extLst>
          </p:cNvPr>
          <p:cNvSpPr txBox="1"/>
          <p:nvPr/>
        </p:nvSpPr>
        <p:spPr>
          <a:xfrm>
            <a:off x="9418320" y="3404519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precision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repeat class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8225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E299-8005-9B4D-6C9B-CDB83D6A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22EB-B94E-E760-B50F-F7FDEA3D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Priority Segmentation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98B5848-C0B0-BE6A-B5A4-8594739A0A2E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ranked into value tiers; the High tier carries both the largest retention gap and the largest delivery-recovery opportunity.</a:t>
            </a:r>
          </a:p>
        </p:txBody>
      </p:sp>
      <p:pic>
        <p:nvPicPr>
          <p:cNvPr id="4" name="Image 0" descr="images/business_priority.png">
            <a:extLst>
              <a:ext uri="{FF2B5EF4-FFF2-40B4-BE49-F238E27FC236}">
                <a16:creationId xmlns:a16="http://schemas.microsoft.com/office/drawing/2014/main" id="{2D366B42-C78F-2805-964D-F55C43EE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4647" y="1932709"/>
            <a:ext cx="10698480" cy="461772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3B7C24C-6AEC-AA1C-CD72-62D3832F8771}"/>
              </a:ext>
            </a:extLst>
          </p:cNvPr>
          <p:cNvSpPr txBox="1"/>
          <p:nvPr/>
        </p:nvSpPr>
        <p:spPr>
          <a:xfrm>
            <a:off x="814647" y="649685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Power BI dashboard — Business Priority &amp; Revenue page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9300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3D6B-5136-E8C4-E73F-44ACF87A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4E335-6267-B7FD-8591-0B51F0722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Interactive Dashboard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D3A07C7-51A5-D0ED-431F-47001CBA5E1B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pages cross-filter live by customer value tier and freight-burden band — shown here filtered to the Medium-Low value tier.</a:t>
            </a:r>
          </a:p>
        </p:txBody>
      </p:sp>
      <p:pic>
        <p:nvPicPr>
          <p:cNvPr id="4" name="Image 0" descr="images/overview.png">
            <a:extLst>
              <a:ext uri="{FF2B5EF4-FFF2-40B4-BE49-F238E27FC236}">
                <a16:creationId xmlns:a16="http://schemas.microsoft.com/office/drawing/2014/main" id="{18688D9E-428D-7D7F-94B4-11A9FCE935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9556" y="1911097"/>
            <a:ext cx="10149840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9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6E9FC-44A8-DDB1-812E-36557CD6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966A-10A7-DA51-0FEE-DCC2164A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F234643-1927-AB91-1335-7CAFEABA510C}"/>
              </a:ext>
            </a:extLst>
          </p:cNvPr>
          <p:cNvSpPr txBox="1"/>
          <p:nvPr/>
        </p:nvSpPr>
        <p:spPr>
          <a:xfrm>
            <a:off x="1389888" y="132183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by evidence strength and business impact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85C7E6-37F1-32DB-8DE1-DD2559D8D74B}"/>
              </a:ext>
            </a:extLst>
          </p:cNvPr>
          <p:cNvSpPr/>
          <p:nvPr/>
        </p:nvSpPr>
        <p:spPr>
          <a:xfrm>
            <a:off x="640080" y="20407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8702D43-83C4-B452-B863-51768D64620D}"/>
              </a:ext>
            </a:extLst>
          </p:cNvPr>
          <p:cNvSpPr txBox="1"/>
          <p:nvPr/>
        </p:nvSpPr>
        <p:spPr>
          <a:xfrm>
            <a:off x="640080" y="2040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E672DD7-10F1-1688-C4E5-CB2A7089C112}"/>
              </a:ext>
            </a:extLst>
          </p:cNvPr>
          <p:cNvSpPr txBox="1"/>
          <p:nvPr/>
        </p:nvSpPr>
        <p:spPr>
          <a:xfrm>
            <a:off x="1325880" y="19950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delivery speed for High-value customers first</a:t>
            </a:r>
            <a:endParaRPr lang="en-US" sz="15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51AE7988-E8A1-C52F-7FFF-6600609A1354}"/>
              </a:ext>
            </a:extLst>
          </p:cNvPr>
          <p:cNvSpPr txBox="1"/>
          <p:nvPr/>
        </p:nvSpPr>
        <p:spPr>
          <a:xfrm>
            <a:off x="1325880" y="23608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tier carries the largest retention gap (0.84pp) and the largest recoverable revenue (R$6,191) from on-time delivery — the highest-leverage lever confirmed by this analysis.</a:t>
            </a:r>
            <a:endParaRPr lang="en-US" sz="12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D69B982-FFE9-B2EF-4540-34AA1EE766AC}"/>
              </a:ext>
            </a:extLst>
          </p:cNvPr>
          <p:cNvSpPr/>
          <p:nvPr/>
        </p:nvSpPr>
        <p:spPr>
          <a:xfrm>
            <a:off x="640080" y="3119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5807F0E0-340A-D474-FB43-F7FCF15A462A}"/>
              </a:ext>
            </a:extLst>
          </p:cNvPr>
          <p:cNvSpPr txBox="1"/>
          <p:nvPr/>
        </p:nvSpPr>
        <p:spPr>
          <a:xfrm>
            <a:off x="640080" y="3119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266BC32-76A2-F9B7-9CEF-C9F104376684}"/>
              </a:ext>
            </a:extLst>
          </p:cNvPr>
          <p:cNvSpPr txBox="1"/>
          <p:nvPr/>
        </p:nvSpPr>
        <p:spPr>
          <a:xfrm>
            <a:off x="1325880" y="3074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using freight-to-price ratio as a retention risk signal</a:t>
            </a:r>
            <a:endParaRPr lang="en-US" sz="15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FB80343-1E9B-63DB-AF6D-53A2FAC2ACAC}"/>
              </a:ext>
            </a:extLst>
          </p:cNvPr>
          <p:cNvSpPr txBox="1"/>
          <p:nvPr/>
        </p:nvSpPr>
        <p:spPr>
          <a:xfrm>
            <a:off x="1325880" y="34398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metric was confirmed as a mechanical artifact (p = 0.0004 → 0.968 after correction). Continuing to act on it would misallocate retention spend.</a:t>
            </a:r>
            <a:endParaRPr lang="en-US" sz="12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B36027CB-2420-090D-43A9-E05503B5F167}"/>
              </a:ext>
            </a:extLst>
          </p:cNvPr>
          <p:cNvSpPr/>
          <p:nvPr/>
        </p:nvSpPr>
        <p:spPr>
          <a:xfrm>
            <a:off x="640080" y="41987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5546E95-7146-9C60-6A44-740431AB06EE}"/>
              </a:ext>
            </a:extLst>
          </p:cNvPr>
          <p:cNvSpPr txBox="1"/>
          <p:nvPr/>
        </p:nvSpPr>
        <p:spPr>
          <a:xfrm>
            <a:off x="640080" y="4198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A8FB48B5-04E7-7870-F118-5BE3349620F9}"/>
              </a:ext>
            </a:extLst>
          </p:cNvPr>
          <p:cNvSpPr txBox="1"/>
          <p:nvPr/>
        </p:nvSpPr>
        <p:spPr>
          <a:xfrm>
            <a:off x="1325880" y="4153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rely on a delivery/pricing-only predictive model</a:t>
            </a:r>
            <a:endParaRPr lang="en-US" sz="15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47357401-13C2-2505-246A-FBD122DCEB59}"/>
              </a:ext>
            </a:extLst>
          </p:cNvPr>
          <p:cNvSpPr txBox="1"/>
          <p:nvPr/>
        </p:nvSpPr>
        <p:spPr>
          <a:xfrm>
            <a:off x="1325880" y="451879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0.55 is too weak for individual-level targeting. Use segment-level (tier-based) prioritization instead, as shown on the previous slide.</a:t>
            </a:r>
            <a:endParaRPr lang="en-US" sz="125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E20BF16F-1C01-57A3-3992-FBF00B3D0945}"/>
              </a:ext>
            </a:extLst>
          </p:cNvPr>
          <p:cNvSpPr/>
          <p:nvPr/>
        </p:nvSpPr>
        <p:spPr>
          <a:xfrm>
            <a:off x="640080" y="5277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5D060C6-3E14-6CF4-2942-8BB2E10CD927}"/>
              </a:ext>
            </a:extLst>
          </p:cNvPr>
          <p:cNvSpPr txBox="1"/>
          <p:nvPr/>
        </p:nvSpPr>
        <p:spPr>
          <a:xfrm>
            <a:off x="640080" y="5277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8722BB3C-4007-3B0C-7680-E9E354589DDA}"/>
              </a:ext>
            </a:extLst>
          </p:cNvPr>
          <p:cNvSpPr txBox="1"/>
          <p:nvPr/>
        </p:nvSpPr>
        <p:spPr>
          <a:xfrm>
            <a:off x="1325880" y="52320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retention driver search beyond delivery &amp; freight</a:t>
            </a:r>
            <a:endParaRPr lang="en-US" sz="15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0E4AB95E-4F93-4627-AEED-546E4F04C5FB}"/>
              </a:ext>
            </a:extLst>
          </p:cNvPr>
          <p:cNvSpPr txBox="1"/>
          <p:nvPr/>
        </p:nvSpPr>
        <p:spPr>
          <a:xfrm>
            <a:off x="1325880" y="559778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small effect sizes found here, product category, review sentiment, and payment experience are natural next variables to test.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416323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AE526-9F3D-1CEC-D644-8A9F36D1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98B43-8AA1-1800-C558-044EC2FD2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98DD74C-B6D8-42DA-4ABC-DF527ADEC1DD}"/>
              </a:ext>
            </a:extLst>
          </p:cNvPr>
          <p:cNvSpPr/>
          <p:nvPr/>
        </p:nvSpPr>
        <p:spPr>
          <a:xfrm>
            <a:off x="649316" y="2422872"/>
            <a:ext cx="109728" cy="109728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77C0D86-6C31-18A7-23D2-6ADC8CC16972}"/>
              </a:ext>
            </a:extLst>
          </p:cNvPr>
          <p:cNvSpPr txBox="1"/>
          <p:nvPr/>
        </p:nvSpPr>
        <p:spPr>
          <a:xfrm>
            <a:off x="923636" y="221118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cohort only — repeat behavior beyond a second order is not modeled.</a:t>
            </a:r>
            <a:endParaRPr lang="en-US" sz="145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BB30ADC-CD93-BF96-DCD9-3AB7D19D1A94}"/>
              </a:ext>
            </a:extLst>
          </p:cNvPr>
          <p:cNvSpPr/>
          <p:nvPr/>
        </p:nvSpPr>
        <p:spPr>
          <a:xfrm>
            <a:off x="649316" y="3200112"/>
            <a:ext cx="109728" cy="109728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7D4BB85A-315E-D7D3-14BC-D0F363DC1C65}"/>
              </a:ext>
            </a:extLst>
          </p:cNvPr>
          <p:cNvSpPr txBox="1"/>
          <p:nvPr/>
        </p:nvSpPr>
        <p:spPr>
          <a:xfrm>
            <a:off x="923636" y="298842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for both confirmed findings are small; statistical significance is not the same as large practical impact.</a:t>
            </a:r>
            <a:endParaRPr lang="en-US" sz="145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82C91C4-89F4-610D-DB70-B33215BEADEE}"/>
              </a:ext>
            </a:extLst>
          </p:cNvPr>
          <p:cNvSpPr/>
          <p:nvPr/>
        </p:nvSpPr>
        <p:spPr>
          <a:xfrm>
            <a:off x="649316" y="3977352"/>
            <a:ext cx="109728" cy="109728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D0C2A743-C605-94AB-AB52-C6DD7777C19B}"/>
              </a:ext>
            </a:extLst>
          </p:cNvPr>
          <p:cNvSpPr txBox="1"/>
          <p:nvPr/>
        </p:nvSpPr>
        <p:spPr>
          <a:xfrm>
            <a:off x="923636" y="376566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baseline uses delivery &amp; pricing features only — no product, review-text, or marketing-channel signals.</a:t>
            </a:r>
            <a:endParaRPr lang="en-US" sz="145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DDE80729-28F8-A9E9-BA90-8E05464B3087}"/>
              </a:ext>
            </a:extLst>
          </p:cNvPr>
          <p:cNvSpPr/>
          <p:nvPr/>
        </p:nvSpPr>
        <p:spPr>
          <a:xfrm>
            <a:off x="649316" y="4754592"/>
            <a:ext cx="109728" cy="109728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A9AD621D-213D-3EE5-AD4D-03BA951B54F5}"/>
              </a:ext>
            </a:extLst>
          </p:cNvPr>
          <p:cNvSpPr txBox="1"/>
          <p:nvPr/>
        </p:nvSpPr>
        <p:spPr>
          <a:xfrm>
            <a:off x="923636" y="454290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 covers 2016–2018; more recent logistics or pricing dynamics are not reflected.</a:t>
            </a:r>
            <a:endParaRPr lang="en-US" sz="145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33E65DE3-AA09-177A-45BF-A22FC379A623}"/>
              </a:ext>
            </a:extLst>
          </p:cNvPr>
          <p:cNvSpPr/>
          <p:nvPr/>
        </p:nvSpPr>
        <p:spPr>
          <a:xfrm>
            <a:off x="649316" y="5531832"/>
            <a:ext cx="109728" cy="109728"/>
          </a:xfrm>
          <a:prstGeom prst="ellipse">
            <a:avLst/>
          </a:prstGeom>
          <a:solidFill>
            <a:srgbClr val="B0B0B0"/>
          </a:solidFill>
          <a:ln/>
        </p:spPr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1F2F1E36-0A39-49DC-88A8-465588322DC2}"/>
              </a:ext>
            </a:extLst>
          </p:cNvPr>
          <p:cNvSpPr txBox="1"/>
          <p:nvPr/>
        </p:nvSpPr>
        <p:spPr>
          <a:xfrm>
            <a:off x="923636" y="5320146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estimates are directional projections built from observed repeat-rate and order-value differences, not a causal revenue model.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8777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03FF-E6B5-6B0F-0561-6CB2C3E52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903F-46B1-C41F-BDF3-45CBC6E255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noProof="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1D83AF-6EFE-8B5E-91F5-03C84CFCCF4D}"/>
              </a:ext>
            </a:extLst>
          </p:cNvPr>
          <p:cNvSpPr txBox="1"/>
          <p:nvPr/>
        </p:nvSpPr>
        <p:spPr>
          <a:xfrm>
            <a:off x="3175199" y="480757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8C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Brijesh Arora  |  brijesharora01@gmail.com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3049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263</TotalTime>
  <Words>912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Cambria</vt:lpstr>
      <vt:lpstr>Wingdings</vt:lpstr>
      <vt:lpstr>Educational subjects 16x9</vt:lpstr>
      <vt:lpstr>PowerPoint Presentation</vt:lpstr>
      <vt:lpstr>Agenda</vt:lpstr>
      <vt:lpstr>Executive Summary</vt:lpstr>
      <vt:lpstr>Business Problem &amp; Objective</vt:lpstr>
      <vt:lpstr>Methodology</vt:lpstr>
      <vt:lpstr>Finding 1: Delivery Speed Drives Retention</vt:lpstr>
      <vt:lpstr>Finding 2: Freight “Risk” Was a Statistical Artifact</vt:lpstr>
      <vt:lpstr>Predictive Baseline: Honest Limits</vt:lpstr>
      <vt:lpstr>Business Priority Segmentation</vt:lpstr>
      <vt:lpstr>An Interactive Dashboard</vt:lpstr>
      <vt:lpstr>Recommendations</vt:lpstr>
      <vt:lpstr>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Brijesh Arora</dc:creator>
  <cp:lastModifiedBy>Brijesh Arora</cp:lastModifiedBy>
  <cp:revision>5</cp:revision>
  <dcterms:created xsi:type="dcterms:W3CDTF">2026-04-26T13:10:53Z</dcterms:created>
  <dcterms:modified xsi:type="dcterms:W3CDTF">2026-09-27T16:40:50Z</dcterms:modified>
</cp:coreProperties>
</file>